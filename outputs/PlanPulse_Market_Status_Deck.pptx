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400"/>
              <a:t>Forecast error, last 8 weeks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WAPE</c:v>
                </c:pt>
              </c:strCache>
            </c:strRef>
          </c:tx>
          <c:spPr>
            <a:solidFill>
              <a:srgbClr val="0F766E"/>
            </a:solidFill>
          </c:spPr>
          <c:cat>
            <c:strRef>
              <c:f>Sheet1!$A$2:$A$5</c:f>
              <c:strCache>
                <c:ptCount val="4"/>
                <c:pt idx="0">
                  <c:v>APAC</c:v>
                </c:pt>
                <c:pt idx="1">
                  <c:v>India</c:v>
                </c:pt>
                <c:pt idx="2">
                  <c:v>MENA-PAK</c:v>
                </c:pt>
                <c:pt idx="3">
                  <c:v>South Africa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0.169</c:v>
                </c:pt>
                <c:pt idx="1">
                  <c:v>0.198</c:v>
                </c:pt>
                <c:pt idx="2">
                  <c:v>0.254</c:v>
                </c:pt>
                <c:pt idx="3">
                  <c:v>0.214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Absolute bias</c:v>
                </c:pt>
              </c:strCache>
            </c:strRef>
          </c:tx>
          <c:spPr>
            <a:solidFill>
              <a:srgbClr val="B45309"/>
            </a:solidFill>
          </c:spPr>
          <c:cat>
            <c:strRef>
              <c:f>Sheet1!$A$2:$A$5</c:f>
              <c:strCache>
                <c:ptCount val="4"/>
                <c:pt idx="0">
                  <c:v>APAC</c:v>
                </c:pt>
                <c:pt idx="1">
                  <c:v>India</c:v>
                </c:pt>
                <c:pt idx="2">
                  <c:v>MENA-PAK</c:v>
                </c:pt>
                <c:pt idx="3">
                  <c:v>South Africa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0.011</c:v>
                </c:pt>
                <c:pt idx="1">
                  <c:v>0.017</c:v>
                </c:pt>
                <c:pt idx="2">
                  <c:v>0.094</c:v>
                </c:pt>
                <c:pt idx="3">
                  <c:v>0.001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numFmt formatCode="0%" sourceLinked="0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1031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Calibri"/>
              </a:rPr>
              <a:t>PlanPulse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29184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E8E2D2"/>
                </a:solidFill>
                <a:latin typeface="Calibri"/>
              </a:rPr>
              <a:t>Weekly planning health: APAC, India, MENA-PAK, South Africa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E8E2D2"/>
                </a:solidFill>
                <a:latin typeface="Calibri"/>
              </a:rPr>
              <a:t>Week of 2026-10-26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E8E2D2"/>
                </a:solidFill>
                <a:latin typeface="Calibri"/>
              </a:rPr>
              <a:t>Simulated data. Not real ISCP or company data.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2A33"/>
                </a:solidFill>
                <a:latin typeface="Georgia"/>
              </a:rPr>
              <a:t>Planning health by market</a:t>
            </a:r>
          </a:p>
          <a:p>
            <a:r>
              <a:rPr sz="1300">
                <a:solidFill>
                  <a:srgbClr val="555555"/>
                </a:solidFill>
                <a:latin typeface="Calibri"/>
              </a:rPr>
              <a:t>112 exceptions, 29 at P1; 33 of 114 open actions are overdue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777777"/>
                </a:solidFill>
                <a:latin typeface="Calibri"/>
              </a:rPr>
              <a:t>PlanPulse | week of 2026-10-26 | simulated data, not real ISCP data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54480"/>
          <a:ext cx="630936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822960"/>
                <a:gridCol w="822960"/>
                <a:gridCol w="914400"/>
                <a:gridCol w="822960"/>
                <a:gridCol w="1188720"/>
              </a:tblGrid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Market</a:t>
                      </a:r>
                    </a:p>
                  </a:txBody>
                  <a:tcPr>
                    <a:solidFill>
                      <a:srgbClr val="1F2A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WAPE</a:t>
                      </a:r>
                    </a:p>
                  </a:txBody>
                  <a:tcPr>
                    <a:solidFill>
                      <a:srgbClr val="1F2A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Bias</a:t>
                      </a:r>
                    </a:p>
                  </a:txBody>
                  <a:tcPr>
                    <a:solidFill>
                      <a:srgbClr val="1F2A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Cover (d)</a:t>
                      </a:r>
                    </a:p>
                  </a:txBody>
                  <a:tcPr>
                    <a:solidFill>
                      <a:srgbClr val="1F2A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OTIF</a:t>
                      </a:r>
                    </a:p>
                  </a:txBody>
                  <a:tcPr>
                    <a:solidFill>
                      <a:srgbClr val="1F2A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High risk</a:t>
                      </a:r>
                    </a:p>
                  </a:txBody>
                  <a:tcPr>
                    <a:solidFill>
                      <a:srgbClr val="1F2A3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A33"/>
                          </a:solidFill>
                        </a:rPr>
                        <a:t>APAC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A33"/>
                          </a:solidFill>
                        </a:rPr>
                        <a:t>17%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A33"/>
                          </a:solidFill>
                        </a:rPr>
                        <a:t>-1.1%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A33"/>
                          </a:solidFill>
                        </a:rPr>
                        <a:t>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A33"/>
                          </a:solidFill>
                        </a:rPr>
                        <a:t>77%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A33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A33"/>
                          </a:solidFill>
                        </a:rPr>
                        <a:t>India</a:t>
                      </a:r>
                    </a:p>
                  </a:txBody>
                  <a:tcPr>
                    <a:solidFill>
                      <a:srgbClr val="F8F6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A33"/>
                          </a:solidFill>
                        </a:rPr>
                        <a:t>20%</a:t>
                      </a:r>
                    </a:p>
                  </a:txBody>
                  <a:tcPr>
                    <a:solidFill>
                      <a:srgbClr val="F8F6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A33"/>
                          </a:solidFill>
                        </a:rPr>
                        <a:t>+1.7%</a:t>
                      </a:r>
                    </a:p>
                  </a:txBody>
                  <a:tcPr>
                    <a:solidFill>
                      <a:srgbClr val="F8F6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A33"/>
                          </a:solidFill>
                        </a:rPr>
                        <a:t>43</a:t>
                      </a:r>
                    </a:p>
                  </a:txBody>
                  <a:tcPr>
                    <a:solidFill>
                      <a:srgbClr val="F8F6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A33"/>
                          </a:solidFill>
                        </a:rPr>
                        <a:t>61%</a:t>
                      </a:r>
                    </a:p>
                  </a:txBody>
                  <a:tcPr>
                    <a:solidFill>
                      <a:srgbClr val="F8F6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A33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F8F6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A33"/>
                          </a:solidFill>
                        </a:rPr>
                        <a:t>MENA-PAK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A33"/>
                          </a:solidFill>
                        </a:rPr>
                        <a:t>25%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A33"/>
                          </a:solidFill>
                        </a:rPr>
                        <a:t>-9.4%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A33"/>
                          </a:solidFill>
                        </a:rPr>
                        <a:t>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A33"/>
                          </a:solidFill>
                        </a:rPr>
                        <a:t>63%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A33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A33"/>
                          </a:solidFill>
                        </a:rPr>
                        <a:t>South Africa</a:t>
                      </a:r>
                    </a:p>
                  </a:txBody>
                  <a:tcPr>
                    <a:solidFill>
                      <a:srgbClr val="F8F6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A33"/>
                          </a:solidFill>
                        </a:rPr>
                        <a:t>21%</a:t>
                      </a:r>
                    </a:p>
                  </a:txBody>
                  <a:tcPr>
                    <a:solidFill>
                      <a:srgbClr val="F8F6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A33"/>
                          </a:solidFill>
                        </a:rPr>
                        <a:t>+0.1%</a:t>
                      </a:r>
                    </a:p>
                  </a:txBody>
                  <a:tcPr>
                    <a:solidFill>
                      <a:srgbClr val="F8F6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A33"/>
                          </a:solidFill>
                        </a:rPr>
                        <a:t>58</a:t>
                      </a:r>
                    </a:p>
                  </a:txBody>
                  <a:tcPr>
                    <a:solidFill>
                      <a:srgbClr val="F8F6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A33"/>
                          </a:solidFill>
                        </a:rPr>
                        <a:t>79%</a:t>
                      </a:r>
                    </a:p>
                  </a:txBody>
                  <a:tcPr>
                    <a:solidFill>
                      <a:srgbClr val="F8F6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A33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8F6F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7132320" y="1463040"/>
          <a:ext cx="4572000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4206240"/>
            <a:ext cx="63093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555555"/>
                </a:solidFill>
                <a:latin typeface="Calibri"/>
              </a:rPr>
              <a:t>WAPE is how far forecasts miss in absolute terms. Bias is the net direction of the miss.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555555"/>
                </a:solidFill>
                <a:latin typeface="Calibri"/>
              </a:rPr>
              <a:t>Cover is days of stock at the next 4 weeks of forecast. High risk means a stockout is projected sooner than the lead time.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2A33"/>
                </a:solidFill>
                <a:latin typeface="Georgia"/>
              </a:rPr>
              <a:t>APAC: 6 SKUs at high stockout risk, 5 late POs</a:t>
            </a:r>
          </a:p>
          <a:p>
            <a:r>
              <a:rPr sz="1300">
                <a:solidFill>
                  <a:srgbClr val="555555"/>
                </a:solidFill>
                <a:latin typeface="Calibri"/>
              </a:rPr>
              <a:t>43 SKUs in scope | 32 exceptions this week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777777"/>
                </a:solidFill>
                <a:latin typeface="Calibri"/>
              </a:rPr>
              <a:t>PlanPulse | week of 2026-10-26 | simulated data, not real ISCP data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54480"/>
            <a:ext cx="2651760" cy="1234440"/>
          </a:xfrm>
          <a:prstGeom prst="rect">
            <a:avLst/>
          </a:prstGeom>
          <a:solidFill>
            <a:srgbClr val="FFFFFF"/>
          </a:solidFill>
          <a:ln>
            <a:solidFill>
              <a:srgbClr val="D8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60020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555555"/>
                </a:solidFill>
                <a:latin typeface="Calibri"/>
              </a:rPr>
              <a:t>Forecast WAPE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874519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600" b="1">
                <a:solidFill>
                  <a:srgbClr val="0F766E"/>
                </a:solidFill>
                <a:latin typeface="Calibri"/>
              </a:rPr>
              <a:t>17%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395728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 b="0">
                <a:solidFill>
                  <a:srgbClr val="666666"/>
                </a:solidFill>
                <a:latin typeface="Calibri"/>
              </a:rPr>
              <a:t>last 8 weeks</a:t>
            </a:r>
          </a:p>
        </p:txBody>
      </p:sp>
      <p:sp>
        <p:nvSpPr>
          <p:cNvPr id="8" name="Rectangle 7"/>
          <p:cNvSpPr/>
          <p:nvPr/>
        </p:nvSpPr>
        <p:spPr>
          <a:xfrm>
            <a:off x="3337560" y="1554480"/>
            <a:ext cx="2651760" cy="1234440"/>
          </a:xfrm>
          <a:prstGeom prst="rect">
            <a:avLst/>
          </a:prstGeom>
          <a:solidFill>
            <a:srgbClr val="FFFFFF"/>
          </a:solidFill>
          <a:ln>
            <a:solidFill>
              <a:srgbClr val="D8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47288" y="160020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555555"/>
                </a:solidFill>
                <a:latin typeface="Calibri"/>
              </a:rPr>
              <a:t>Forecast bias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47288" y="1874519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600" b="1">
                <a:solidFill>
                  <a:srgbClr val="0F766E"/>
                </a:solidFill>
                <a:latin typeface="Calibri"/>
              </a:rPr>
              <a:t>-1.1%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47288" y="2395728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 b="0">
                <a:solidFill>
                  <a:srgbClr val="666666"/>
                </a:solidFill>
                <a:latin typeface="Calibri"/>
              </a:rPr>
              <a:t>net direction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971800"/>
            <a:ext cx="2651760" cy="1234440"/>
          </a:xfrm>
          <a:prstGeom prst="rect">
            <a:avLst/>
          </a:prstGeom>
          <a:solidFill>
            <a:srgbClr val="FFFFFF"/>
          </a:solidFill>
          <a:ln>
            <a:solidFill>
              <a:srgbClr val="D8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301752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555555"/>
                </a:solidFill>
                <a:latin typeface="Calibri"/>
              </a:rPr>
              <a:t>Average cover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329184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600" b="1">
                <a:solidFill>
                  <a:srgbClr val="0F766E"/>
                </a:solidFill>
                <a:latin typeface="Calibri"/>
              </a:rPr>
              <a:t>55 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3813048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 b="0">
                <a:solidFill>
                  <a:srgbClr val="666666"/>
                </a:solidFill>
                <a:latin typeface="Calibri"/>
              </a:rPr>
              <a:t>next 4 weeks of forecast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37560" y="2971800"/>
            <a:ext cx="2651760" cy="1234440"/>
          </a:xfrm>
          <a:prstGeom prst="rect">
            <a:avLst/>
          </a:prstGeom>
          <a:solidFill>
            <a:srgbClr val="FFFFFF"/>
          </a:solidFill>
          <a:ln>
            <a:solidFill>
              <a:srgbClr val="D8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47288" y="301752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555555"/>
                </a:solidFill>
                <a:latin typeface="Calibri"/>
              </a:rPr>
              <a:t>OTIF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47288" y="329184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600" b="1">
                <a:solidFill>
                  <a:srgbClr val="0F766E"/>
                </a:solidFill>
                <a:latin typeface="Calibri"/>
              </a:rPr>
              <a:t>77%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47288" y="3813048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 b="0">
                <a:solidFill>
                  <a:srgbClr val="666666"/>
                </a:solidFill>
                <a:latin typeface="Calibri"/>
              </a:rPr>
              <a:t>closed POs, trailing 26 weeks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1554480"/>
            <a:ext cx="53035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1F2A33"/>
                </a:solidFill>
                <a:latin typeface="Calibri"/>
              </a:rPr>
              <a:t>Needs action now (P1)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1F2A33"/>
                </a:solidFill>
                <a:latin typeface="Calibri"/>
              </a:rPr>
              <a:t>Data quality: PO references a SKU that is not in the inventory master: 2 row(s)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1F2A33"/>
                </a:solidFill>
                <a:latin typeface="Calibri"/>
              </a:rPr>
              <a:t>Data quality: Inventory snapshot older than 3 days at run date: 47 row(s)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1F2A33"/>
                </a:solidFill>
                <a:latin typeface="Calibri"/>
              </a:rPr>
              <a:t>Data quality: Negative on-hand quantity in inventory extract: 2 row(s)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1F2A33"/>
                </a:solidFill>
                <a:latin typeface="Calibri"/>
              </a:rPr>
              <a:t>Late PO: PO PO000088 is 7 days past promised date, open qty 696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1F2A33"/>
                </a:solidFill>
                <a:latin typeface="Calibri"/>
              </a:rPr>
              <a:t>Stockout risk: Projected stockout in week 2 of 8 (lead time 17 d, cover 9.0 d)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572000"/>
            <a:ext cx="111556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444444"/>
                </a:solidFill>
                <a:latin typeface="Calibri"/>
              </a:rPr>
              <a:t>Data quality: 8 failed check(s): INV_DUP, INV_NEG_ONHAND, INV_NULL_SS, INV_STALE, FC_NULL, SALES_NEG, PO_DATE_ORDER, PO_ORPHAN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444444"/>
                </a:solidFill>
                <a:latin typeface="Calibri"/>
              </a:rPr>
              <a:t>Overdue actions in this market: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2A33"/>
                </a:solidFill>
                <a:latin typeface="Georgia"/>
              </a:rPr>
              <a:t>India: 6 SKUs at high stockout risk, 13 late POs</a:t>
            </a:r>
          </a:p>
          <a:p>
            <a:r>
              <a:rPr sz="1300">
                <a:solidFill>
                  <a:srgbClr val="555555"/>
                </a:solidFill>
                <a:latin typeface="Calibri"/>
              </a:rPr>
              <a:t>38 SKUs in scope | 33 exceptions this week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777777"/>
                </a:solidFill>
                <a:latin typeface="Calibri"/>
              </a:rPr>
              <a:t>PlanPulse | week of 2026-10-26 | simulated data, not real ISCP data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54480"/>
            <a:ext cx="2651760" cy="1234440"/>
          </a:xfrm>
          <a:prstGeom prst="rect">
            <a:avLst/>
          </a:prstGeom>
          <a:solidFill>
            <a:srgbClr val="FFFFFF"/>
          </a:solidFill>
          <a:ln>
            <a:solidFill>
              <a:srgbClr val="D8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60020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555555"/>
                </a:solidFill>
                <a:latin typeface="Calibri"/>
              </a:rPr>
              <a:t>Forecast WAPE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874519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600" b="1">
                <a:solidFill>
                  <a:srgbClr val="0F766E"/>
                </a:solidFill>
                <a:latin typeface="Calibri"/>
              </a:rPr>
              <a:t>20%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395728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 b="0">
                <a:solidFill>
                  <a:srgbClr val="666666"/>
                </a:solidFill>
                <a:latin typeface="Calibri"/>
              </a:rPr>
              <a:t>last 8 weeks</a:t>
            </a:r>
          </a:p>
        </p:txBody>
      </p:sp>
      <p:sp>
        <p:nvSpPr>
          <p:cNvPr id="8" name="Rectangle 7"/>
          <p:cNvSpPr/>
          <p:nvPr/>
        </p:nvSpPr>
        <p:spPr>
          <a:xfrm>
            <a:off x="3337560" y="1554480"/>
            <a:ext cx="2651760" cy="1234440"/>
          </a:xfrm>
          <a:prstGeom prst="rect">
            <a:avLst/>
          </a:prstGeom>
          <a:solidFill>
            <a:srgbClr val="FFFFFF"/>
          </a:solidFill>
          <a:ln>
            <a:solidFill>
              <a:srgbClr val="D8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47288" y="160020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555555"/>
                </a:solidFill>
                <a:latin typeface="Calibri"/>
              </a:rPr>
              <a:t>Forecast bias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47288" y="1874519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600" b="1">
                <a:solidFill>
                  <a:srgbClr val="0F766E"/>
                </a:solidFill>
                <a:latin typeface="Calibri"/>
              </a:rPr>
              <a:t>+1.7%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47288" y="2395728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 b="0">
                <a:solidFill>
                  <a:srgbClr val="666666"/>
                </a:solidFill>
                <a:latin typeface="Calibri"/>
              </a:rPr>
              <a:t>net direction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971800"/>
            <a:ext cx="2651760" cy="1234440"/>
          </a:xfrm>
          <a:prstGeom prst="rect">
            <a:avLst/>
          </a:prstGeom>
          <a:solidFill>
            <a:srgbClr val="FFFFFF"/>
          </a:solidFill>
          <a:ln>
            <a:solidFill>
              <a:srgbClr val="D8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301752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555555"/>
                </a:solidFill>
                <a:latin typeface="Calibri"/>
              </a:rPr>
              <a:t>Average cover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329184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600" b="1">
                <a:solidFill>
                  <a:srgbClr val="0F766E"/>
                </a:solidFill>
                <a:latin typeface="Calibri"/>
              </a:rPr>
              <a:t>43 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3813048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 b="0">
                <a:solidFill>
                  <a:srgbClr val="666666"/>
                </a:solidFill>
                <a:latin typeface="Calibri"/>
              </a:rPr>
              <a:t>next 4 weeks of forecast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37560" y="2971800"/>
            <a:ext cx="2651760" cy="1234440"/>
          </a:xfrm>
          <a:prstGeom prst="rect">
            <a:avLst/>
          </a:prstGeom>
          <a:solidFill>
            <a:srgbClr val="FFFFFF"/>
          </a:solidFill>
          <a:ln>
            <a:solidFill>
              <a:srgbClr val="D8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47288" y="301752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555555"/>
                </a:solidFill>
                <a:latin typeface="Calibri"/>
              </a:rPr>
              <a:t>OTIF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47288" y="329184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600" b="1">
                <a:solidFill>
                  <a:srgbClr val="0F766E"/>
                </a:solidFill>
                <a:latin typeface="Calibri"/>
              </a:rPr>
              <a:t>61%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47288" y="3813048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 b="0">
                <a:solidFill>
                  <a:srgbClr val="666666"/>
                </a:solidFill>
                <a:latin typeface="Calibri"/>
              </a:rPr>
              <a:t>closed POs, trailing 26 weeks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1554480"/>
            <a:ext cx="53035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1F2A33"/>
                </a:solidFill>
                <a:latin typeface="Calibri"/>
              </a:rPr>
              <a:t>Needs action now (P1)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1F2A33"/>
                </a:solidFill>
                <a:latin typeface="Calibri"/>
              </a:rPr>
              <a:t>Data quality: PO references a SKU that is not in the inventory master: 2 row(s)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1F2A33"/>
                </a:solidFill>
                <a:latin typeface="Calibri"/>
              </a:rPr>
              <a:t>Data quality: Negative on-hand quantity in inventory extract: 2 row(s)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1F2A33"/>
                </a:solidFill>
                <a:latin typeface="Calibri"/>
              </a:rPr>
              <a:t>Late PO: PO PO000101 is 1 days past promised date, open qty 200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1F2A33"/>
                </a:solidFill>
                <a:latin typeface="Calibri"/>
              </a:rPr>
              <a:t>Late PO: PO PO000106 is 9 days past promised date, open qty 150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1F2A33"/>
                </a:solidFill>
                <a:latin typeface="Calibri"/>
              </a:rPr>
              <a:t>Late PO: PO PO000023 is 3 days past promised date, open qty 189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572000"/>
            <a:ext cx="111556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444444"/>
                </a:solidFill>
                <a:latin typeface="Calibri"/>
              </a:rPr>
              <a:t>Data quality: 7 failed check(s): INV_DUP, INV_NEG_ONHAND, INV_NULL_SS, FC_NULL, SALES_NEG, PO_DATE_ORDER, PO_ORPHAN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444444"/>
                </a:solidFill>
                <a:latin typeface="Calibri"/>
              </a:rPr>
              <a:t>Overdue actions in this market: 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2A33"/>
                </a:solidFill>
                <a:latin typeface="Georgia"/>
              </a:rPr>
              <a:t>MENA-PAK: 2 SKUs at high stockout risk, 8 late POs</a:t>
            </a:r>
          </a:p>
          <a:p>
            <a:r>
              <a:rPr sz="1300">
                <a:solidFill>
                  <a:srgbClr val="555555"/>
                </a:solidFill>
                <a:latin typeface="Calibri"/>
              </a:rPr>
              <a:t>33 SKUs in scope | 23 exceptions this week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777777"/>
                </a:solidFill>
                <a:latin typeface="Calibri"/>
              </a:rPr>
              <a:t>PlanPulse | week of 2026-10-26 | simulated data, not real ISCP data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54480"/>
            <a:ext cx="2651760" cy="1234440"/>
          </a:xfrm>
          <a:prstGeom prst="rect">
            <a:avLst/>
          </a:prstGeom>
          <a:solidFill>
            <a:srgbClr val="FFFFFF"/>
          </a:solidFill>
          <a:ln>
            <a:solidFill>
              <a:srgbClr val="D8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60020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555555"/>
                </a:solidFill>
                <a:latin typeface="Calibri"/>
              </a:rPr>
              <a:t>Forecast WAPE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874519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600" b="1">
                <a:solidFill>
                  <a:srgbClr val="0F766E"/>
                </a:solidFill>
                <a:latin typeface="Calibri"/>
              </a:rPr>
              <a:t>25%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395728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 b="0">
                <a:solidFill>
                  <a:srgbClr val="666666"/>
                </a:solidFill>
                <a:latin typeface="Calibri"/>
              </a:rPr>
              <a:t>last 8 weeks</a:t>
            </a:r>
          </a:p>
        </p:txBody>
      </p:sp>
      <p:sp>
        <p:nvSpPr>
          <p:cNvPr id="8" name="Rectangle 7"/>
          <p:cNvSpPr/>
          <p:nvPr/>
        </p:nvSpPr>
        <p:spPr>
          <a:xfrm>
            <a:off x="3337560" y="1554480"/>
            <a:ext cx="2651760" cy="1234440"/>
          </a:xfrm>
          <a:prstGeom prst="rect">
            <a:avLst/>
          </a:prstGeom>
          <a:solidFill>
            <a:srgbClr val="FFFFFF"/>
          </a:solidFill>
          <a:ln>
            <a:solidFill>
              <a:srgbClr val="D8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47288" y="160020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555555"/>
                </a:solidFill>
                <a:latin typeface="Calibri"/>
              </a:rPr>
              <a:t>Forecast bias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47288" y="1874519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600" b="1">
                <a:solidFill>
                  <a:srgbClr val="0F766E"/>
                </a:solidFill>
                <a:latin typeface="Calibri"/>
              </a:rPr>
              <a:t>-9.4%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47288" y="2395728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 b="0">
                <a:solidFill>
                  <a:srgbClr val="666666"/>
                </a:solidFill>
                <a:latin typeface="Calibri"/>
              </a:rPr>
              <a:t>net direction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971800"/>
            <a:ext cx="2651760" cy="1234440"/>
          </a:xfrm>
          <a:prstGeom prst="rect">
            <a:avLst/>
          </a:prstGeom>
          <a:solidFill>
            <a:srgbClr val="FFFFFF"/>
          </a:solidFill>
          <a:ln>
            <a:solidFill>
              <a:srgbClr val="D8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301752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555555"/>
                </a:solidFill>
                <a:latin typeface="Calibri"/>
              </a:rPr>
              <a:t>Average cover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329184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600" b="1">
                <a:solidFill>
                  <a:srgbClr val="0F766E"/>
                </a:solidFill>
                <a:latin typeface="Calibri"/>
              </a:rPr>
              <a:t>56 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3813048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 b="0">
                <a:solidFill>
                  <a:srgbClr val="666666"/>
                </a:solidFill>
                <a:latin typeface="Calibri"/>
              </a:rPr>
              <a:t>next 4 weeks of forecast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37560" y="2971800"/>
            <a:ext cx="2651760" cy="1234440"/>
          </a:xfrm>
          <a:prstGeom prst="rect">
            <a:avLst/>
          </a:prstGeom>
          <a:solidFill>
            <a:srgbClr val="FFFFFF"/>
          </a:solidFill>
          <a:ln>
            <a:solidFill>
              <a:srgbClr val="D8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47288" y="301752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555555"/>
                </a:solidFill>
                <a:latin typeface="Calibri"/>
              </a:rPr>
              <a:t>OTIF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47288" y="329184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600" b="1">
                <a:solidFill>
                  <a:srgbClr val="0F766E"/>
                </a:solidFill>
                <a:latin typeface="Calibri"/>
              </a:rPr>
              <a:t>63%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47288" y="3813048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 b="0">
                <a:solidFill>
                  <a:srgbClr val="666666"/>
                </a:solidFill>
                <a:latin typeface="Calibri"/>
              </a:rPr>
              <a:t>closed POs, trailing 26 weeks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1554480"/>
            <a:ext cx="53035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1F2A33"/>
                </a:solidFill>
                <a:latin typeface="Calibri"/>
              </a:rPr>
              <a:t>Needs action now (P1)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1F2A33"/>
                </a:solidFill>
                <a:latin typeface="Calibri"/>
              </a:rPr>
              <a:t>Data quality: Negative on-hand quantity in inventory extract: 2 row(s)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1F2A33"/>
                </a:solidFill>
                <a:latin typeface="Calibri"/>
              </a:rPr>
              <a:t>Data quality: PO references a SKU that is not in the inventory master: 2 row(s)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1F2A33"/>
                </a:solidFill>
                <a:latin typeface="Calibri"/>
              </a:rPr>
              <a:t>Stockout risk: Projected stockout in week 7 of 8 (lead time 50 d, cover 30.0 d)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1F2A33"/>
                </a:solidFill>
                <a:latin typeface="Calibri"/>
              </a:rPr>
              <a:t>Stockout risk: Projected stockout in week 7 of 8 (lead time 53 d, cover 20.0 d)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572000"/>
            <a:ext cx="111556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444444"/>
                </a:solidFill>
                <a:latin typeface="Calibri"/>
              </a:rPr>
              <a:t>Data quality: 8 failed check(s): INV_DUP, INV_NEG_ONHAND, INV_NULL_SS, FC_NULL, FC_HORIZON_GAP, SALES_NEG, PO_DATE_ORDER, PO_ORPHAN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444444"/>
                </a:solidFill>
                <a:latin typeface="Calibri"/>
              </a:rPr>
              <a:t>Overdue actions in this market: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2A33"/>
                </a:solidFill>
                <a:latin typeface="Georgia"/>
              </a:rPr>
              <a:t>South Africa: 2 SKUs at high stockout risk, 5 late POs</a:t>
            </a:r>
          </a:p>
          <a:p>
            <a:r>
              <a:rPr sz="1300">
                <a:solidFill>
                  <a:srgbClr val="555555"/>
                </a:solidFill>
                <a:latin typeface="Calibri"/>
              </a:rPr>
              <a:t>28 SKUs in scope | 24 exceptions this week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777777"/>
                </a:solidFill>
                <a:latin typeface="Calibri"/>
              </a:rPr>
              <a:t>PlanPulse | week of 2026-10-26 | simulated data, not real ISCP data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54480"/>
            <a:ext cx="2651760" cy="1234440"/>
          </a:xfrm>
          <a:prstGeom prst="rect">
            <a:avLst/>
          </a:prstGeom>
          <a:solidFill>
            <a:srgbClr val="FFFFFF"/>
          </a:solidFill>
          <a:ln>
            <a:solidFill>
              <a:srgbClr val="D8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60020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555555"/>
                </a:solidFill>
                <a:latin typeface="Calibri"/>
              </a:rPr>
              <a:t>Forecast WAPE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874519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600" b="1">
                <a:solidFill>
                  <a:srgbClr val="0F766E"/>
                </a:solidFill>
                <a:latin typeface="Calibri"/>
              </a:rPr>
              <a:t>21%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395728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 b="0">
                <a:solidFill>
                  <a:srgbClr val="666666"/>
                </a:solidFill>
                <a:latin typeface="Calibri"/>
              </a:rPr>
              <a:t>last 8 weeks</a:t>
            </a:r>
          </a:p>
        </p:txBody>
      </p:sp>
      <p:sp>
        <p:nvSpPr>
          <p:cNvPr id="8" name="Rectangle 7"/>
          <p:cNvSpPr/>
          <p:nvPr/>
        </p:nvSpPr>
        <p:spPr>
          <a:xfrm>
            <a:off x="3337560" y="1554480"/>
            <a:ext cx="2651760" cy="1234440"/>
          </a:xfrm>
          <a:prstGeom prst="rect">
            <a:avLst/>
          </a:prstGeom>
          <a:solidFill>
            <a:srgbClr val="FFFFFF"/>
          </a:solidFill>
          <a:ln>
            <a:solidFill>
              <a:srgbClr val="D8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47288" y="160020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555555"/>
                </a:solidFill>
                <a:latin typeface="Calibri"/>
              </a:rPr>
              <a:t>Forecast bias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47288" y="1874519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600" b="1">
                <a:solidFill>
                  <a:srgbClr val="0F766E"/>
                </a:solidFill>
                <a:latin typeface="Calibri"/>
              </a:rPr>
              <a:t>+0.1%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47288" y="2395728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 b="0">
                <a:solidFill>
                  <a:srgbClr val="666666"/>
                </a:solidFill>
                <a:latin typeface="Calibri"/>
              </a:rPr>
              <a:t>net direction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971800"/>
            <a:ext cx="2651760" cy="1234440"/>
          </a:xfrm>
          <a:prstGeom prst="rect">
            <a:avLst/>
          </a:prstGeom>
          <a:solidFill>
            <a:srgbClr val="FFFFFF"/>
          </a:solidFill>
          <a:ln>
            <a:solidFill>
              <a:srgbClr val="D8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301752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555555"/>
                </a:solidFill>
                <a:latin typeface="Calibri"/>
              </a:rPr>
              <a:t>Average cover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329184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600" b="1">
                <a:solidFill>
                  <a:srgbClr val="0F766E"/>
                </a:solidFill>
                <a:latin typeface="Calibri"/>
              </a:rPr>
              <a:t>58 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3813048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 b="0">
                <a:solidFill>
                  <a:srgbClr val="666666"/>
                </a:solidFill>
                <a:latin typeface="Calibri"/>
              </a:rPr>
              <a:t>next 4 weeks of forecast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37560" y="2971800"/>
            <a:ext cx="2651760" cy="1234440"/>
          </a:xfrm>
          <a:prstGeom prst="rect">
            <a:avLst/>
          </a:prstGeom>
          <a:solidFill>
            <a:srgbClr val="FFFFFF"/>
          </a:solidFill>
          <a:ln>
            <a:solidFill>
              <a:srgbClr val="D8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47288" y="301752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555555"/>
                </a:solidFill>
                <a:latin typeface="Calibri"/>
              </a:rPr>
              <a:t>OTIF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47288" y="329184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600" b="1">
                <a:solidFill>
                  <a:srgbClr val="0F766E"/>
                </a:solidFill>
                <a:latin typeface="Calibri"/>
              </a:rPr>
              <a:t>79%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47288" y="3813048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 b="0">
                <a:solidFill>
                  <a:srgbClr val="666666"/>
                </a:solidFill>
                <a:latin typeface="Calibri"/>
              </a:rPr>
              <a:t>closed POs, trailing 26 weeks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1554480"/>
            <a:ext cx="53035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1F2A33"/>
                </a:solidFill>
                <a:latin typeface="Calibri"/>
              </a:rPr>
              <a:t>Needs action now (P1)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1F2A33"/>
                </a:solidFill>
                <a:latin typeface="Calibri"/>
              </a:rPr>
              <a:t>Data quality: Negative on-hand quantity in inventory extract: 2 row(s)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1F2A33"/>
                </a:solidFill>
                <a:latin typeface="Calibri"/>
              </a:rPr>
              <a:t>Data quality: PO references a SKU that is not in the inventory master: 2 row(s)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1F2A33"/>
                </a:solidFill>
                <a:latin typeface="Calibri"/>
              </a:rPr>
              <a:t>Stockout risk: Projected stockout in week 2 of 8 (lead time 31 d, cover 9.0 d)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1F2A33"/>
                </a:solidFill>
                <a:latin typeface="Calibri"/>
              </a:rPr>
              <a:t>Stockout risk: Projected stockout in week 6 of 8 (lead time 36 d, cover 8.0 d)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572000"/>
            <a:ext cx="111556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444444"/>
                </a:solidFill>
                <a:latin typeface="Calibri"/>
              </a:rPr>
              <a:t>Data quality: 7 failed check(s): INV_DUP, INV_NEG_ONHAND, INV_NULL_SS, FC_NULL, SALES_NEG, PO_DATE_ORDER, PO_ORPHAN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444444"/>
                </a:solidFill>
                <a:latin typeface="Calibri"/>
              </a:rPr>
              <a:t>Overdue actions in this market: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2A33"/>
                </a:solidFill>
                <a:latin typeface="Georgia"/>
              </a:rPr>
              <a:t>Actions and escalations</a:t>
            </a:r>
          </a:p>
          <a:p>
            <a:r>
              <a:rPr sz="1300">
                <a:solidFill>
                  <a:srgbClr val="555555"/>
                </a:solidFill>
                <a:latin typeface="Calibri"/>
              </a:rPr>
              <a:t>33 overdue; escalation follows days past due against the severity SLA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777777"/>
                </a:solidFill>
                <a:latin typeface="Calibri"/>
              </a:rPr>
              <a:t>PlanPulse | week of 2026-10-26 | simulated data, not real ISCP data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54480"/>
          <a:ext cx="1106424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554480"/>
                <a:gridCol w="731520"/>
                <a:gridCol w="3657600"/>
                <a:gridCol w="1463040"/>
                <a:gridCol w="1188720"/>
                <a:gridCol w="1371600"/>
              </a:tblGrid>
              <a:tr h="41148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ID</a:t>
                      </a:r>
                    </a:p>
                  </a:txBody>
                  <a:tcPr>
                    <a:solidFill>
                      <a:srgbClr val="1F2A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Market</a:t>
                      </a:r>
                    </a:p>
                  </a:txBody>
                  <a:tcPr>
                    <a:solidFill>
                      <a:srgbClr val="1F2A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Sev</a:t>
                      </a:r>
                    </a:p>
                  </a:txBody>
                  <a:tcPr>
                    <a:solidFill>
                      <a:srgbClr val="1F2A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Owner</a:t>
                      </a:r>
                    </a:p>
                  </a:txBody>
                  <a:tcPr>
                    <a:solidFill>
                      <a:srgbClr val="1F2A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Due</a:t>
                      </a:r>
                    </a:p>
                  </a:txBody>
                  <a:tcPr>
                    <a:solidFill>
                      <a:srgbClr val="1F2A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Days over</a:t>
                      </a:r>
                    </a:p>
                  </a:txBody>
                  <a:tcPr>
                    <a:solidFill>
                      <a:srgbClr val="1F2A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Escalate to</a:t>
                      </a:r>
                    </a:p>
                  </a:txBody>
                  <a:tcPr>
                    <a:solidFill>
                      <a:srgbClr val="1F2A33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A33"/>
                          </a:solidFill>
                        </a:rPr>
                        <a:t>ACT-0005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A33"/>
                          </a:solidFill>
                        </a:rPr>
                        <a:t>India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A33"/>
                          </a:solidFill>
                        </a:rPr>
                        <a:t>P1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A33"/>
                          </a:solidFill>
                        </a:rPr>
                        <a:t>Supply Planner, India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A33"/>
                          </a:solidFill>
                        </a:rPr>
                        <a:t>2026-10-21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A33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A33"/>
                          </a:solidFill>
                        </a:rPr>
                        <a:t>ISCP lead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A33"/>
                          </a:solidFill>
                        </a:rPr>
                        <a:t>ACT-0010</a:t>
                      </a:r>
                    </a:p>
                  </a:txBody>
                  <a:tcPr>
                    <a:solidFill>
                      <a:srgbClr val="F8F6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A33"/>
                          </a:solidFill>
                        </a:rPr>
                        <a:t>APAC</a:t>
                      </a:r>
                    </a:p>
                  </a:txBody>
                  <a:tcPr>
                    <a:solidFill>
                      <a:srgbClr val="F8F6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A33"/>
                          </a:solidFill>
                        </a:rPr>
                        <a:t>P1</a:t>
                      </a:r>
                    </a:p>
                  </a:txBody>
                  <a:tcPr>
                    <a:solidFill>
                      <a:srgbClr val="F8F6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A33"/>
                          </a:solidFill>
                        </a:rPr>
                        <a:t>Supply Planner, APAC</a:t>
                      </a:r>
                    </a:p>
                  </a:txBody>
                  <a:tcPr>
                    <a:solidFill>
                      <a:srgbClr val="F8F6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A33"/>
                          </a:solidFill>
                        </a:rPr>
                        <a:t>2026-10-21</a:t>
                      </a:r>
                    </a:p>
                  </a:txBody>
                  <a:tcPr>
                    <a:solidFill>
                      <a:srgbClr val="F8F6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A33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8F6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A33"/>
                          </a:solidFill>
                        </a:rPr>
                        <a:t>ISCP lead</a:t>
                      </a:r>
                    </a:p>
                  </a:txBody>
                  <a:tcPr>
                    <a:solidFill>
                      <a:srgbClr val="F8F6F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A33"/>
                          </a:solidFill>
                        </a:rPr>
                        <a:t>ACT-0020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A33"/>
                          </a:solidFill>
                        </a:rPr>
                        <a:t>South Africa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A33"/>
                          </a:solidFill>
                        </a:rPr>
                        <a:t>P1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A33"/>
                          </a:solidFill>
                        </a:rPr>
                        <a:t>Supply Planner, South Africa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A33"/>
                          </a:solidFill>
                        </a:rPr>
                        <a:t>2026-10-21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A33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A33"/>
                          </a:solidFill>
                        </a:rPr>
                        <a:t>ISCP lead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A33"/>
                          </a:solidFill>
                        </a:rPr>
                        <a:t>ACT-0023</a:t>
                      </a:r>
                    </a:p>
                  </a:txBody>
                  <a:tcPr>
                    <a:solidFill>
                      <a:srgbClr val="F8F6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A33"/>
                          </a:solidFill>
                        </a:rPr>
                        <a:t>APAC</a:t>
                      </a:r>
                    </a:p>
                  </a:txBody>
                  <a:tcPr>
                    <a:solidFill>
                      <a:srgbClr val="F8F6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A33"/>
                          </a:solidFill>
                        </a:rPr>
                        <a:t>P1</a:t>
                      </a:r>
                    </a:p>
                  </a:txBody>
                  <a:tcPr>
                    <a:solidFill>
                      <a:srgbClr val="F8F6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A33"/>
                          </a:solidFill>
                        </a:rPr>
                        <a:t>Supply Planner, APAC</a:t>
                      </a:r>
                    </a:p>
                  </a:txBody>
                  <a:tcPr>
                    <a:solidFill>
                      <a:srgbClr val="F8F6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A33"/>
                          </a:solidFill>
                        </a:rPr>
                        <a:t>2026-10-21</a:t>
                      </a:r>
                    </a:p>
                  </a:txBody>
                  <a:tcPr>
                    <a:solidFill>
                      <a:srgbClr val="F8F6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A33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8F6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A33"/>
                          </a:solidFill>
                        </a:rPr>
                        <a:t>ISCP lead</a:t>
                      </a:r>
                    </a:p>
                  </a:txBody>
                  <a:tcPr>
                    <a:solidFill>
                      <a:srgbClr val="F8F6F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A33"/>
                          </a:solidFill>
                        </a:rPr>
                        <a:t>ACT-0087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A33"/>
                          </a:solidFill>
                        </a:rPr>
                        <a:t>India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A33"/>
                          </a:solidFill>
                        </a:rPr>
                        <a:t>P1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A33"/>
                          </a:solidFill>
                        </a:rPr>
                        <a:t>Data Steward, India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A33"/>
                          </a:solidFill>
                        </a:rPr>
                        <a:t>2026-10-21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A33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A33"/>
                          </a:solidFill>
                        </a:rPr>
                        <a:t>ISCP lead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A33"/>
                          </a:solidFill>
                        </a:rPr>
                        <a:t>ACT-0088</a:t>
                      </a:r>
                    </a:p>
                  </a:txBody>
                  <a:tcPr>
                    <a:solidFill>
                      <a:srgbClr val="F8F6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A33"/>
                          </a:solidFill>
                        </a:rPr>
                        <a:t>MENA-PAK</a:t>
                      </a:r>
                    </a:p>
                  </a:txBody>
                  <a:tcPr>
                    <a:solidFill>
                      <a:srgbClr val="F8F6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A33"/>
                          </a:solidFill>
                        </a:rPr>
                        <a:t>P1</a:t>
                      </a:r>
                    </a:p>
                  </a:txBody>
                  <a:tcPr>
                    <a:solidFill>
                      <a:srgbClr val="F8F6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A33"/>
                          </a:solidFill>
                        </a:rPr>
                        <a:t>Data Steward, MENA-PAK</a:t>
                      </a:r>
                    </a:p>
                  </a:txBody>
                  <a:tcPr>
                    <a:solidFill>
                      <a:srgbClr val="F8F6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A33"/>
                          </a:solidFill>
                        </a:rPr>
                        <a:t>2026-10-21</a:t>
                      </a:r>
                    </a:p>
                  </a:txBody>
                  <a:tcPr>
                    <a:solidFill>
                      <a:srgbClr val="F8F6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A33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8F6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A33"/>
                          </a:solidFill>
                        </a:rPr>
                        <a:t>ISCP lead</a:t>
                      </a:r>
                    </a:p>
                  </a:txBody>
                  <a:tcPr>
                    <a:solidFill>
                      <a:srgbClr val="F8F6F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A33"/>
                          </a:solidFill>
                        </a:rPr>
                        <a:t>ACT-0089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A33"/>
                          </a:solidFill>
                        </a:rPr>
                        <a:t>South Africa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A33"/>
                          </a:solidFill>
                        </a:rPr>
                        <a:t>P1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A33"/>
                          </a:solidFill>
                        </a:rPr>
                        <a:t>Data Steward, South Africa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A33"/>
                          </a:solidFill>
                        </a:rPr>
                        <a:t>2026-10-21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A33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A33"/>
                          </a:solidFill>
                        </a:rPr>
                        <a:t>ISCP lead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A33"/>
                          </a:solidFill>
                        </a:rPr>
                        <a:t>ACT-0094</a:t>
                      </a:r>
                    </a:p>
                  </a:txBody>
                  <a:tcPr>
                    <a:solidFill>
                      <a:srgbClr val="F8F6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A33"/>
                          </a:solidFill>
                        </a:rPr>
                        <a:t>APAC</a:t>
                      </a:r>
                    </a:p>
                  </a:txBody>
                  <a:tcPr>
                    <a:solidFill>
                      <a:srgbClr val="F8F6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A33"/>
                          </a:solidFill>
                        </a:rPr>
                        <a:t>P1</a:t>
                      </a:r>
                    </a:p>
                  </a:txBody>
                  <a:tcPr>
                    <a:solidFill>
                      <a:srgbClr val="F8F6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A33"/>
                          </a:solidFill>
                        </a:rPr>
                        <a:t>Data Steward, APAC</a:t>
                      </a:r>
                    </a:p>
                  </a:txBody>
                  <a:tcPr>
                    <a:solidFill>
                      <a:srgbClr val="F8F6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A33"/>
                          </a:solidFill>
                        </a:rPr>
                        <a:t>2026-10-21</a:t>
                      </a:r>
                    </a:p>
                  </a:txBody>
                  <a:tcPr>
                    <a:solidFill>
                      <a:srgbClr val="F8F6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A33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8F6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A33"/>
                          </a:solidFill>
                        </a:rPr>
                        <a:t>ISCP lead</a:t>
                      </a:r>
                    </a:p>
                  </a:txBody>
                  <a:tcPr>
                    <a:solidFill>
                      <a:srgbClr val="F8F6F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A33"/>
                          </a:solidFill>
                        </a:rPr>
                        <a:t>ACT-0108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A33"/>
                          </a:solidFill>
                        </a:rPr>
                        <a:t>APAC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A33"/>
                          </a:solidFill>
                        </a:rPr>
                        <a:t>P1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A33"/>
                          </a:solidFill>
                        </a:rPr>
                        <a:t>Data Steward, APAC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A33"/>
                          </a:solidFill>
                        </a:rPr>
                        <a:t>2026-10-21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A33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A33"/>
                          </a:solidFill>
                        </a:rPr>
                        <a:t>ISCP lead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2A33"/>
                </a:solidFill>
                <a:latin typeface="Georgia"/>
              </a:rPr>
              <a:t>Risks and process gaps</a:t>
            </a:r>
          </a:p>
          <a:p>
            <a:r>
              <a:rPr sz="1300">
                <a:solidFill>
                  <a:srgbClr val="555555"/>
                </a:solidFill>
                <a:latin typeface="Calibri"/>
              </a:rPr>
              <a:t>From docs/risk_register.csv and docs/gap_log.csv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777777"/>
                </a:solidFill>
                <a:latin typeface="Calibri"/>
              </a:rPr>
              <a:t>PlanPulse | week of 2026-10-26 | simulated data, not real ISCP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5486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1F2A33"/>
                </a:solidFill>
                <a:latin typeface="Calibri"/>
              </a:rPr>
              <a:t>Risks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1F2A33"/>
                </a:solidFill>
                <a:latin typeface="Calibri"/>
              </a:rPr>
              <a:t>R01 (High): Stale inventory snapshot makes cover and stockout figures wrong for a market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1F2A33"/>
                </a:solidFill>
                <a:latin typeface="Calibri"/>
              </a:rPr>
              <a:t>R02 (High): Past-due POs are excluded from projected receipts so stockout risk is overstated when a late PO actually lands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1F2A33"/>
                </a:solidFill>
                <a:latin typeface="Calibri"/>
              </a:rPr>
              <a:t>R03 (Medium): Forecast bias on a high-volume SKU goes unnoticed because WAPE looks acceptable at market level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1F2A33"/>
                </a:solidFill>
                <a:latin typeface="Calibri"/>
              </a:rPr>
              <a:t>R04 (Medium): LLM drafted summary states a number that is not in the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554480"/>
            <a:ext cx="5394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1F2A33"/>
                </a:solidFill>
                <a:latin typeface="Calibri"/>
              </a:rPr>
              <a:t>Process gaps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1F2A33"/>
                </a:solidFill>
                <a:latin typeface="Calibri"/>
              </a:rPr>
              <a:t>G01: No single owner for fixing extract defects before the planning review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1F2A33"/>
                </a:solidFill>
                <a:latin typeface="Calibri"/>
              </a:rPr>
              <a:t>G02: Past-due POs have no standard rule for assumed arrival date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1F2A33"/>
                </a:solidFill>
                <a:latin typeface="Calibri"/>
              </a:rPr>
              <a:t>G03: Forecast accuracy is reviewed at market level only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1F2A33"/>
                </a:solidFill>
                <a:latin typeface="Calibri"/>
              </a:rPr>
              <a:t>G04: Meeting decisions live in notes and are not tracked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